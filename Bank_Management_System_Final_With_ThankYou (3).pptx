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</p:sldIdLst>
  <p:sldSz cy="5143500" cx="9144000"/>
  <p:notesSz cx="6858000" cy="9144000"/>
  <p:embeddedFontLst>
    <p:embeddedFont>
      <p:font typeface="Urbanist Medium"/>
      <p:regular r:id="rId8"/>
      <p:bold r:id="rId9"/>
      <p:italic r:id="rId10"/>
      <p:boldItalic r:id="rId11"/>
    </p:embeddedFont>
    <p:embeddedFont>
      <p:font typeface="Urbanist SemiBold"/>
      <p:regular r:id="rId12"/>
      <p:bold r:id="rId13"/>
      <p:italic r:id="rId14"/>
      <p:boldItalic r:id="rId15"/>
    </p:embeddedFon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UrbanistMedium-regular.fntdata"/><Relationship Id="rId9" Type="http://schemas.openxmlformats.org/officeDocument/2006/relationships/font" Target="fonts/UrbanistMedium-bold.fntdata"/><Relationship Id="rId10" Type="http://schemas.openxmlformats.org/officeDocument/2006/relationships/font" Target="fonts/UrbanistMedium-italic.fntdata"/><Relationship Id="rId11" Type="http://schemas.openxmlformats.org/officeDocument/2006/relationships/font" Target="fonts/UrbanistMedium-boldItalic.fntdata"/><Relationship Id="rId12" Type="http://schemas.openxmlformats.org/officeDocument/2006/relationships/font" Target="fonts/UrbanistSemiBold-regular.fntdata"/><Relationship Id="rId13" Type="http://schemas.openxmlformats.org/officeDocument/2006/relationships/font" Target="fonts/UrbanistSemiBold-bold.fntdata"/><Relationship Id="rId14" Type="http://schemas.openxmlformats.org/officeDocument/2006/relationships/font" Target="fonts/UrbanistSemiBold-italic.fntdata"/><Relationship Id="rId15" Type="http://schemas.openxmlformats.org/officeDocument/2006/relationships/font" Target="fonts/UrbanistSemiBold-boldItalic.fntdata"/><Relationship Id="rId16" Type="http://schemas.openxmlformats.org/officeDocument/2006/relationships/font" Target="fonts/Urbanist-regular.fntdata"/><Relationship Id="rId17" Type="http://schemas.openxmlformats.org/officeDocument/2006/relationships/font" Target="fonts/Urbanist-bold.fntdata"/><Relationship Id="rId18" Type="http://schemas.openxmlformats.org/officeDocument/2006/relationships/font" Target="fonts/Urbanist-italic.fntdata"/><Relationship Id="rId19" Type="http://schemas.openxmlformats.org/officeDocument/2006/relationships/font" Target="fonts/Urbanist-boldItalic.fntdata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89625583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c89625583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89625583e_1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89625583e_1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5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11.jpg"/><Relationship Id="rId8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DIV 5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GROUP 5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9" name="Google Shape;439;p41"/>
          <p:cNvSpPr txBox="1"/>
          <p:nvPr>
            <p:ph type="title"/>
          </p:nvPr>
        </p:nvSpPr>
        <p:spPr>
          <a:xfrm>
            <a:off x="228600" y="228600"/>
            <a:ext cx="69213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Bank Management System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0" name="Google Shape;440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MIT-WPU</a:t>
            </a:r>
            <a:endParaRPr/>
          </a:p>
        </p:txBody>
      </p:sp>
      <p:sp>
        <p:nvSpPr>
          <p:cNvPr id="441" name="Google Shape;441;p41"/>
          <p:cNvSpPr txBox="1"/>
          <p:nvPr>
            <p:ph idx="7" type="subTitle"/>
          </p:nvPr>
        </p:nvSpPr>
        <p:spPr>
          <a:xfrm>
            <a:off x="320616" y="3491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FY-BTECH CSE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</a:t>
            </a:r>
            <a:r>
              <a:rPr lang="en"/>
              <a:t> by </a:t>
            </a:r>
            <a:endParaRPr/>
          </a:p>
        </p:txBody>
      </p:sp>
      <p:pic>
        <p:nvPicPr>
          <p:cNvPr id="443" name="Google Shape;443;p41" title="MIT-whit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7025" y="151125"/>
            <a:ext cx="3438375" cy="7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2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449" name="Google Shape;449;p4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50" name="Google Shape;450;p4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51" name="Google Shape;451;p42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1262251945</a:t>
            </a:r>
            <a:endParaRPr/>
          </a:p>
        </p:txBody>
      </p:sp>
      <p:sp>
        <p:nvSpPr>
          <p:cNvPr id="452" name="Google Shape;452;p42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Sahil M</a:t>
            </a:r>
            <a:endParaRPr/>
          </a:p>
        </p:txBody>
      </p:sp>
      <p:sp>
        <p:nvSpPr>
          <p:cNvPr id="453" name="Google Shape;453;p42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1262253778</a:t>
            </a:r>
            <a:endParaRPr/>
          </a:p>
        </p:txBody>
      </p:sp>
      <p:sp>
        <p:nvSpPr>
          <p:cNvPr id="454" name="Google Shape;454;p42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Amogh K</a:t>
            </a:r>
            <a:endParaRPr/>
          </a:p>
        </p:txBody>
      </p:sp>
      <p:sp>
        <p:nvSpPr>
          <p:cNvPr id="455" name="Google Shape;455;p42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1262252985</a:t>
            </a:r>
            <a:endParaRPr/>
          </a:p>
        </p:txBody>
      </p:sp>
      <p:sp>
        <p:nvSpPr>
          <p:cNvPr id="456" name="Google Shape;456;p42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Vinit N</a:t>
            </a:r>
            <a:endParaRPr/>
          </a:p>
        </p:txBody>
      </p:sp>
      <p:sp>
        <p:nvSpPr>
          <p:cNvPr id="457" name="Google Shape;457;p42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1262251811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8" name="Google Shape;458;p42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 K</a:t>
            </a:r>
            <a:endParaRPr/>
          </a:p>
        </p:txBody>
      </p:sp>
      <p:sp>
        <p:nvSpPr>
          <p:cNvPr id="459" name="Google Shape;459;p42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1262250375</a:t>
            </a:r>
            <a:endParaRPr/>
          </a:p>
        </p:txBody>
      </p:sp>
      <p:sp>
        <p:nvSpPr>
          <p:cNvPr id="460" name="Google Shape;460;p42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Adi S</a:t>
            </a:r>
            <a:endParaRPr/>
          </a:p>
        </p:txBody>
      </p:sp>
      <p:sp>
        <p:nvSpPr>
          <p:cNvPr id="461" name="Google Shape;461;p42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1262251695</a:t>
            </a:r>
            <a:endParaRPr/>
          </a:p>
        </p:txBody>
      </p:sp>
      <p:sp>
        <p:nvSpPr>
          <p:cNvPr id="462" name="Google Shape;462;p42"/>
          <p:cNvSpPr txBox="1"/>
          <p:nvPr>
            <p:ph idx="8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Deepansh T</a:t>
            </a:r>
            <a:endParaRPr/>
          </a:p>
        </p:txBody>
      </p:sp>
      <p:sp>
        <p:nvSpPr>
          <p:cNvPr id="463" name="Google Shape;463;p4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id="464" name="Google Shape;464;p42" title="DEEPAMSH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9550" y="228600"/>
            <a:ext cx="1291475" cy="13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2" title="SAHIL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6450" y="228600"/>
            <a:ext cx="1370400" cy="139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2" title="AMOGH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2275" y="228600"/>
            <a:ext cx="1159425" cy="13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2" title="VINIT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9550" y="2177777"/>
            <a:ext cx="1093726" cy="146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2" title="IMG_0682 8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6455" y="2177775"/>
            <a:ext cx="1172096" cy="146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2" title="ADI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1150" y="2215050"/>
            <a:ext cx="1172101" cy="139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express heartfelt gratitude to our project guide, Prof. Shirish Paygude.</a:t>
            </a:r>
          </a:p>
          <a:p>
            <a:pPr lvl="1"/>
            <a:r>
              <a:t>Constant encouragement, insightful feedback, and technical expertise.</a:t>
            </a:r>
          </a:p>
          <a:p>
            <a:pPr lvl="1"/>
            <a:r>
              <a:t>Thanks to Head of Department and faculty members for support.</a:t>
            </a:r>
          </a:p>
          <a:p>
            <a:pPr lvl="1"/>
            <a:r>
              <a:t>Provided necessary infrastructure for project development.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Console-based Bank Management System using C language.</a:t>
            </a:r>
          </a:p>
          <a:p>
            <a:pPr lvl="1"/>
            <a:r>
              <a:t>Automates account creation, balance enquiry, deposit, withdrawal, fund management.</a:t>
            </a:r>
          </a:p>
          <a:p>
            <a:pPr lvl="1"/>
            <a:r>
              <a:t>Uses file handling for permanent data storage.</a:t>
            </a:r>
          </a:p>
          <a:p>
            <a:pPr lvl="1"/>
            <a:r>
              <a:t>Implements structures, pointers, loops, functions, and file operations.</a:t>
            </a:r>
          </a:p>
          <a:p>
            <a:pPr lvl="1"/>
            <a:r>
              <a:t>Menu-driven and user-friendly interface.</a:t>
            </a:r>
          </a:p>
          <a:p>
            <a:pPr lvl="1"/>
            <a:r>
              <a:t>Demonstrates real-world banking system simulation.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Banking systems ensure secure financial transaction management.</a:t>
            </a:r>
          </a:p>
          <a:p>
            <a:pPr lvl="1"/>
            <a:r>
              <a:t>Traditional systems were manual and inefficient.</a:t>
            </a:r>
          </a:p>
          <a:p>
            <a:pPr lvl="1"/>
            <a:r>
              <a:t>Project develops a simple Banking Management System using C.</a:t>
            </a:r>
          </a:p>
          <a:p>
            <a:pPr lvl="1"/>
            <a:r>
              <a:t>Applies structured programming and file handling.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Manual banking processes are time-consuming and error-prone.</a:t>
            </a:r>
          </a:p>
          <a:p>
            <a:pPr lvl="1"/>
            <a:r>
              <a:t>Lack scalability and efficiency.</a:t>
            </a:r>
          </a:p>
          <a:p>
            <a:pPr lvl="1"/>
            <a:r>
              <a:t>Need for a computerized accurate banking system.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Design a menu-driven banking system in C.</a:t>
            </a:r>
          </a:p>
          <a:p>
            <a:pPr lvl="1"/>
            <a:r>
              <a:t>Implement file handling for secure storage and retrieval.</a:t>
            </a:r>
          </a:p>
          <a:p>
            <a:pPr lvl="1"/>
            <a:r>
              <a:t>Provide login authentication and transaction management.</a:t>
            </a:r>
          </a:p>
          <a:p>
            <a:pPr lvl="1"/>
            <a:r>
              <a:t>Demonstrate real-world application of C programming.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LITERATURE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Academic and commercial banking systems emphasize security.</a:t>
            </a:r>
          </a:p>
          <a:p>
            <a:pPr lvl="1"/>
            <a:r>
              <a:t>Focus on scalability and data integrity.</a:t>
            </a:r>
          </a:p>
          <a:p>
            <a:pPr lvl="1"/>
            <a:r>
              <a:t>Professional systems use databases and encryption.</a:t>
            </a:r>
          </a:p>
          <a:p>
            <a:pPr lvl="1"/>
            <a:r>
              <a:t>Project simplifies using file handling in C.</a:t>
            </a:r>
          </a:p>
          <a:p>
            <a:pPr lvl="1"/>
            <a:r>
              <a:t>Modular and student-friendly framework.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SYSTEM DESIGN AND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Modular architecture.</a:t>
            </a:r>
          </a:p>
          <a:p>
            <a:pPr lvl="1"/>
            <a:r>
              <a:t>Each banking operation implemented as separate function.</a:t>
            </a:r>
          </a:p>
          <a:p>
            <a:pPr lvl="1"/>
            <a:r>
              <a:t>Ensures clarity, maintainability, and scalability.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IMPLEMENTED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Account Creation &amp; Login – File-stored credentials.</a:t>
            </a:r>
          </a:p>
          <a:p>
            <a:pPr lvl="1"/>
            <a:r>
              <a:t>Deposit &amp; Withdrawal – Real-time balance updates.</a:t>
            </a:r>
          </a:p>
          <a:p>
            <a:pPr lvl="1"/>
            <a:r>
              <a:t>Transaction History – Persistent logs.</a:t>
            </a:r>
          </a:p>
          <a:p>
            <a:pPr lvl="1"/>
            <a:r>
              <a:t>Fund Transfer – Inter-account verification.</a:t>
            </a:r>
          </a:p>
          <a:p>
            <a:pPr lvl="1"/>
            <a:r>
              <a:t>Loan &amp; EMI Calculation – Financial computations.</a:t>
            </a:r>
          </a:p>
          <a:p>
            <a:pPr lvl="1"/>
            <a:r>
              <a:t>Fixed Deposit &amp; Pension Schemes – Long-term investment simulation.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Developed using C language.</a:t>
            </a:r>
          </a:p>
          <a:p>
            <a:pPr lvl="1"/>
            <a:r>
              <a:t>Uses stdio.h, stdlib.h, string.h libraries.</a:t>
            </a:r>
          </a:p>
          <a:p>
            <a:pPr lvl="1"/>
            <a:r>
              <a:t>File handling with CSV for data persistence.</a:t>
            </a:r>
          </a:p>
          <a:p>
            <a:pPr lvl="1"/>
            <a:r>
              <a:t>Menu-driven system with modular functions.</a:t>
            </a:r>
          </a:p>
          <a:p>
            <a:pPr lvl="1"/>
            <a:r>
              <a:t>Input validation for reliability.</a:t>
            </a:r>
          </a:p>
          <a:p>
            <a:pPr lvl="1"/>
            <a:r>
              <a:t>Independent module testing before integration.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RESULTS AND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Performs intended banking operations efficiently.</a:t>
            </a:r>
          </a:p>
          <a:p>
            <a:pPr lvl="1"/>
            <a:r>
              <a:t>Secure file storage and accurate transaction records.</a:t>
            </a:r>
          </a:p>
          <a:p>
            <a:pPr lvl="1"/>
            <a:r>
              <a:t>Handles errors like insufficient balance.</a:t>
            </a:r>
          </a:p>
          <a:p>
            <a:pPr lvl="1"/>
            <a:r>
              <a:t>Modular and extendable design.</a:t>
            </a:r>
          </a:p>
          <a:p>
            <a:pPr lvl="1"/>
            <a:r>
              <a:t>Demonstrates practical application of C concepts.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Successfully automates basic banking operations.</a:t>
            </a:r>
          </a:p>
          <a:p>
            <a:pPr lvl="1"/>
            <a:r>
              <a:t>Effective use of structured programming and file handling.</a:t>
            </a:r>
          </a:p>
          <a:p>
            <a:pPr lvl="1"/>
            <a:r>
              <a:t>Provides hands-on real-world C programming experience.</a:t>
            </a:r>
          </a:p>
          <a:p>
            <a:pPr lvl="1"/>
            <a:r>
              <a:t>Foundation for advanced banking applications.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Integration with GUI.</a:t>
            </a:r>
          </a:p>
          <a:p>
            <a:pPr lvl="1"/>
            <a:r>
              <a:t>Database connectivity for scalability.</a:t>
            </a:r>
          </a:p>
          <a:p>
            <a:pPr lvl="1"/>
            <a:r>
              <a:t>Enhanced security with encryption.</a:t>
            </a:r>
          </a:p>
          <a:p>
            <a:pPr lvl="1"/>
            <a:r>
              <a:t>Online banking support with networking.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Operating Systems and File Handling Documentation.</a:t>
            </a:r>
          </a:p>
          <a:p>
            <a:pPr lvl="1"/>
            <a:r>
              <a:t>Online resources and tutorials on Banking Systems.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THANK YOU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/>
        </p:txBody>
      </p:sp>
      <p:sp>
        <p:nvSpPr>
          <p:cNvPr id="8" name="Subtitle 7"/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/>
        </p:txBody>
      </p:sp>
      <p:sp>
        <p:nvSpPr>
          <p:cNvPr id="9" name="Subtitle 8"/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/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/>
        </p:txBody>
      </p:sp>
      <p:sp>
        <p:nvSpPr>
          <p:cNvPr id="11" name="Subtitle 10"/>
          <p:cNvSpPr>
            <a:spLocks noGrp="1"/>
          </p:cNvSpPr>
          <p:nvPr>
            <p:ph type="subTitle" idx="9"/>
          </p:nvPr>
        </p:nvSpPr>
        <p:spPr/>
        <p:txBody>
          <a:bodyPr/>
          <a:lstStyle/>
          <a:p/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  <p:sp>
        <p:nvSpPr>
          <p:cNvPr id="13" name="Subtitle 12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/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/>
        </p:txBody>
      </p:sp>
      <p:sp>
        <p:nvSpPr>
          <p:cNvPr id="15" name="Subtitle 14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16" name="Subtitle 15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/>
        </p:txBody>
      </p:sp>
      <p:sp>
        <p:nvSpPr>
          <p:cNvPr id="17" name="Subtitle 16"/>
          <p:cNvSpPr>
            <a:spLocks noGrp="1"/>
          </p:cNvSpPr>
          <p:nvPr>
            <p:ph type="subTitle" idx="18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